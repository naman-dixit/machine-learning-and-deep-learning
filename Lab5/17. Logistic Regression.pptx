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2"/>
    <p:sldId id="285" r:id="rId3"/>
    <p:sldId id="347" r:id="rId4"/>
    <p:sldId id="441" r:id="rId5"/>
    <p:sldId id="432" r:id="rId6"/>
    <p:sldId id="411" r:id="rId7"/>
    <p:sldId id="412" r:id="rId8"/>
    <p:sldId id="435" r:id="rId9"/>
    <p:sldId id="433" r:id="rId10"/>
    <p:sldId id="436" r:id="rId11"/>
    <p:sldId id="437" r:id="rId12"/>
    <p:sldId id="438" r:id="rId13"/>
    <p:sldId id="440" r:id="rId14"/>
    <p:sldId id="439" r:id="rId15"/>
    <p:sldId id="451" r:id="rId16"/>
    <p:sldId id="434" r:id="rId17"/>
    <p:sldId id="402" r:id="rId18"/>
    <p:sldId id="442" r:id="rId19"/>
    <p:sldId id="443" r:id="rId20"/>
    <p:sldId id="444" r:id="rId21"/>
    <p:sldId id="448" r:id="rId22"/>
    <p:sldId id="449" r:id="rId23"/>
    <p:sldId id="445" r:id="rId24"/>
    <p:sldId id="450" r:id="rId25"/>
    <p:sldId id="446" r:id="rId26"/>
    <p:sldId id="447" r:id="rId27"/>
    <p:sldId id="452" r:id="rId28"/>
    <p:sldId id="453" r:id="rId29"/>
    <p:sldId id="454" r:id="rId30"/>
    <p:sldId id="455" r:id="rId31"/>
    <p:sldId id="456" r:id="rId32"/>
    <p:sldId id="26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73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6E3548-E2C7-AF87-AC55-F317428DD2A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6E79C-8E35-58DB-CC83-280EA0FAE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BD66C-79B7-4FDB-BF32-23C90609D848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DA65B-3B53-D3A8-A086-341784EF2E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B84BC-111C-7D6E-763C-F41FC63F5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40C30-8FD2-4FEF-A980-822629A18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4108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5ADC66-F0A2-4792-9AB2-255BB98A8AB2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345DD-40A4-4935-8AA5-3A7CF4DE4C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0511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24AE2-F906-4971-9E44-6F222FB901FC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41760-8622-493A-A9C2-39A688AB2BAF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5D68-BE99-4CA6-B0AD-BF854E14954F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58E91-EAEB-46D2-9E3C-A563C3B89D0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0789-8F28-4F1F-8B44-B2F3D859C54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4DA5-3A6C-4FEC-8361-08A90D4E04DA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74F19-50A6-4E69-AE78-4BCCFDBB31D7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5FC7F-F347-4027-9E14-A462B15AACE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089FD-D3A6-42B2-BDBB-4F037C70B80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F225D-EAA3-4EE4-8CE7-2A5F3F6CF651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D599E-B576-404E-B808-6E5E671A8F09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B3D37-A95A-48A5-B2AB-6316EC22505B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517D-71D3-44B8-B3ED-1C60353A5EE2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00298-2CDD-416A-9036-F1C136A496AA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53B183-0A0B-4514-9549-CFC7C2DC0158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61D62-800A-4B89-8DC5-C5E4EBB20F4D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0DECB-CFA1-41F9-B395-F3B734013353}" type="datetime1">
              <a:rPr lang="en-US" smtClean="0"/>
              <a:t>3/2/2026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Ashima Tyagi (Asst. Prof. SCSE)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6ADF5-825C-AAD9-F163-390079416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91" y="990197"/>
            <a:ext cx="9711672" cy="2632978"/>
          </a:xfrm>
        </p:spPr>
        <p:txBody>
          <a:bodyPr>
            <a:normAutofit/>
          </a:bodyPr>
          <a:lstStyle/>
          <a:p>
            <a:r>
              <a:rPr lang="en-IN" sz="6000" b="1" dirty="0"/>
              <a:t>Logistic </a:t>
            </a:r>
            <a:br>
              <a:rPr lang="en-IN" sz="6000" b="1" dirty="0"/>
            </a:br>
            <a:r>
              <a:rPr lang="en-IN" sz="6000" b="1" dirty="0"/>
              <a:t>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4AA12-5B2D-F24A-AD3A-87C135807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5754" y="5304661"/>
            <a:ext cx="8915399" cy="1126283"/>
          </a:xfrm>
        </p:spPr>
        <p:txBody>
          <a:bodyPr>
            <a:normAutofit/>
          </a:bodyPr>
          <a:lstStyle/>
          <a:p>
            <a:pPr algn="r"/>
            <a:r>
              <a:rPr lang="en-US" b="1" dirty="0"/>
              <a:t>Presentation by: Dr. Ashima Tyagi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EE1B2D-2B0F-3A28-C0FA-28D6810CC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128" y="0"/>
            <a:ext cx="3334871" cy="333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5F28-D169-CC78-763C-6A82DAEE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84E5D-6B46-BBBD-9399-DB42AE398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Classification</a:t>
            </a:r>
          </a:p>
          <a:p>
            <a:r>
              <a:rPr lang="en-IN" sz="2400" dirty="0"/>
              <a:t>Logistic regression</a:t>
            </a:r>
          </a:p>
          <a:p>
            <a:r>
              <a:rPr lang="en-IN" sz="2400" dirty="0"/>
              <a:t>Numerical</a:t>
            </a:r>
          </a:p>
          <a:p>
            <a:r>
              <a:rPr lang="en-IN" sz="2400" dirty="0"/>
              <a:t>Loss Function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7636F4-6165-FC93-EE83-F4FC1B246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86D39-62AB-436D-4943-AB2905AC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782939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39A0-4B4C-4BFC-5DBC-9ECF91C1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4815" y="1174258"/>
            <a:ext cx="6301899" cy="1280890"/>
          </a:xfrm>
        </p:spPr>
        <p:txBody>
          <a:bodyPr>
            <a:normAutofit/>
          </a:bodyPr>
          <a:lstStyle/>
          <a:p>
            <a:r>
              <a:rPr lang="en-US" sz="4400" b="1" dirty="0"/>
              <a:t>CLASSIFICATION</a:t>
            </a:r>
            <a:endParaRPr lang="en-IN" sz="44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2476499"/>
            <a:ext cx="11044518" cy="4069773"/>
          </a:xfrm>
        </p:spPr>
        <p:txBody>
          <a:bodyPr>
            <a:normAutofit/>
          </a:bodyPr>
          <a:lstStyle/>
          <a:p>
            <a:r>
              <a:rPr lang="en-US" sz="2400" dirty="0"/>
              <a:t>Classification is a machine learning task that involves </a:t>
            </a:r>
            <a:r>
              <a:rPr lang="en-US" sz="2400" b="1" dirty="0">
                <a:solidFill>
                  <a:schemeClr val="accent4"/>
                </a:solidFill>
              </a:rPr>
              <a:t>categorizing input data into classes or categories </a:t>
            </a:r>
            <a:r>
              <a:rPr lang="en-US" sz="2400" dirty="0"/>
              <a:t>based on their features. </a:t>
            </a:r>
          </a:p>
          <a:p>
            <a:r>
              <a:rPr lang="en-US" sz="2400" dirty="0"/>
              <a:t>Classification problems are an important category of problems in analytics in which the outcome variable or </a:t>
            </a:r>
            <a:r>
              <a:rPr lang="en-US" sz="2400" b="1" dirty="0">
                <a:solidFill>
                  <a:schemeClr val="accent4"/>
                </a:solidFill>
              </a:rPr>
              <a:t>response variable (Y) takes discrete values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352293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C5CC1-6FF9-50AD-5225-50A977AF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C4417-8795-A3B7-6490-242F4805B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482" y="1550895"/>
            <a:ext cx="11044518" cy="49953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i="1" dirty="0"/>
              <a:t>Some common types of classification algorithms include: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Binary Classification: </a:t>
            </a:r>
            <a:r>
              <a:rPr lang="en-US" sz="2400" dirty="0"/>
              <a:t>This is the simplest form of classification, where the goal is to classify instances into one of </a:t>
            </a:r>
            <a:r>
              <a:rPr lang="en-US" sz="2400" b="1" dirty="0">
                <a:solidFill>
                  <a:schemeClr val="accent4"/>
                </a:solidFill>
              </a:rPr>
              <a:t>two classes</a:t>
            </a:r>
            <a:r>
              <a:rPr lang="en-US" sz="2400" dirty="0"/>
              <a:t>. Examples include spam detection </a:t>
            </a:r>
            <a:r>
              <a:rPr lang="en-US" sz="2400" dirty="0">
                <a:solidFill>
                  <a:schemeClr val="accent4"/>
                </a:solidFill>
              </a:rPr>
              <a:t>(spam or not spam) </a:t>
            </a:r>
            <a:r>
              <a:rPr lang="en-US" sz="2400" dirty="0"/>
              <a:t>and medical diagnosis (disease or no disease).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Multi-class Classification: </a:t>
            </a:r>
            <a:r>
              <a:rPr lang="en-US" sz="2400" dirty="0"/>
              <a:t>In multi-class classification, instances are classified into one of </a:t>
            </a:r>
            <a:r>
              <a:rPr lang="en-US" sz="2400" b="1" dirty="0">
                <a:solidFill>
                  <a:schemeClr val="accent4"/>
                </a:solidFill>
              </a:rPr>
              <a:t>more than two classes</a:t>
            </a:r>
            <a:r>
              <a:rPr lang="en-US" sz="2400" dirty="0"/>
              <a:t>. Examples include image classification (cat, dog, bird, etc.) and hand-written digit recognition (0-9).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4C8495-D6D4-F595-9A4D-8F617EFA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B87F0-3498-A75E-4E5D-5EF7905C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331517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pic>
        <p:nvPicPr>
          <p:cNvPr id="1026" name="Picture 2" descr="Classification in machine learning: Types and methodologies">
            <a:extLst>
              <a:ext uri="{FF2B5EF4-FFF2-40B4-BE49-F238E27FC236}">
                <a16:creationId xmlns:a16="http://schemas.microsoft.com/office/drawing/2014/main" id="{2F911675-8C55-8620-2AE6-AC7ECD6ADE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9" t="16811" r="6032" b="7207"/>
          <a:stretch/>
        </p:blipFill>
        <p:spPr bwMode="auto">
          <a:xfrm>
            <a:off x="1939310" y="549003"/>
            <a:ext cx="8492674" cy="457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BD18F9-E4DB-FC79-FA7D-032A09EA5C46}"/>
              </a:ext>
            </a:extLst>
          </p:cNvPr>
          <p:cNvSpPr txBox="1"/>
          <p:nvPr/>
        </p:nvSpPr>
        <p:spPr>
          <a:xfrm>
            <a:off x="2232212" y="5585012"/>
            <a:ext cx="3373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Two classes: Cross and circle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79515-6850-923D-683F-7CB6B44F2F29}"/>
              </a:ext>
            </a:extLst>
          </p:cNvPr>
          <p:cNvSpPr txBox="1"/>
          <p:nvPr/>
        </p:nvSpPr>
        <p:spPr>
          <a:xfrm>
            <a:off x="6660776" y="5529136"/>
            <a:ext cx="4514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Three classes: Cross, triangle and circle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617816A-67BB-55D7-EAA3-DC985493DC68}"/>
              </a:ext>
            </a:extLst>
          </p:cNvPr>
          <p:cNvSpPr txBox="1">
            <a:spLocks/>
          </p:cNvSpPr>
          <p:nvPr/>
        </p:nvSpPr>
        <p:spPr>
          <a:xfrm>
            <a:off x="10431983" y="122087"/>
            <a:ext cx="1760015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Classification </a:t>
            </a:r>
          </a:p>
        </p:txBody>
      </p:sp>
    </p:spTree>
    <p:extLst>
      <p:ext uri="{BB962C8B-B14F-4D97-AF65-F5344CB8AC3E}">
        <p14:creationId xmlns:p14="http://schemas.microsoft.com/office/powerpoint/2010/main" val="2082039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39A0-4B4C-4BFC-5DBC-9ECF91C1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5612" y="588251"/>
            <a:ext cx="6301899" cy="1280890"/>
          </a:xfrm>
        </p:spPr>
        <p:txBody>
          <a:bodyPr/>
          <a:lstStyle/>
          <a:p>
            <a:r>
              <a:rPr lang="en-US" b="1" dirty="0"/>
              <a:t>Logistic Regression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577788"/>
            <a:ext cx="9740900" cy="5151046"/>
          </a:xfrm>
        </p:spPr>
        <p:txBody>
          <a:bodyPr>
            <a:normAutofit/>
          </a:bodyPr>
          <a:lstStyle/>
          <a:p>
            <a:r>
              <a:rPr lang="en-US" sz="2400" dirty="0"/>
              <a:t>Logistic regression is a classification algorithm, not a regression algorithm, despite its name. </a:t>
            </a:r>
          </a:p>
          <a:p>
            <a:r>
              <a:rPr lang="en-US" sz="2400" dirty="0"/>
              <a:t>It’s referred to as regression because it is the extension of linear regression but is mainly used for classification problems.</a:t>
            </a:r>
          </a:p>
          <a:p>
            <a:r>
              <a:rPr lang="en-US" sz="2400" i="1" dirty="0">
                <a:solidFill>
                  <a:srgbClr val="0070C0"/>
                </a:solidFill>
              </a:rPr>
              <a:t>Logical regression analyzes the relationship between one or more independent variables and classifies data into discrete classes.</a:t>
            </a:r>
          </a:p>
          <a:p>
            <a:r>
              <a:rPr lang="en-US" sz="2400" dirty="0"/>
              <a:t>It is used to predict the probability that a given input example belongs to a particular class. </a:t>
            </a:r>
          </a:p>
          <a:p>
            <a:r>
              <a:rPr lang="en-US" sz="2400" dirty="0"/>
              <a:t>The class can be anything such as True or False, Cat or Dog, Apple or Strawberry.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331478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339A0-4B4C-4BFC-5DBC-9ECF91C12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52" y="1045451"/>
            <a:ext cx="8828359" cy="128089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Binary Logistic 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152" y="1973411"/>
            <a:ext cx="10302483" cy="3167550"/>
          </a:xfrm>
        </p:spPr>
        <p:txBody>
          <a:bodyPr>
            <a:normAutofit/>
          </a:bodyPr>
          <a:lstStyle/>
          <a:p>
            <a:r>
              <a:rPr lang="en-US" sz="2400" dirty="0"/>
              <a:t>If the outcome variable takes only two values, then the model is called binary logistic regression model.</a:t>
            </a:r>
          </a:p>
          <a:p>
            <a:r>
              <a:rPr lang="en-US" sz="2400" dirty="0"/>
              <a:t>It can identify: </a:t>
            </a:r>
            <a:r>
              <a:rPr lang="en-US" sz="2400" i="1" dirty="0"/>
              <a:t>Determine the probability of heart attacks</a:t>
            </a:r>
          </a:p>
          <a:p>
            <a:endParaRPr lang="en-US" sz="2400" i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68197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09FF3FE-54EA-A4AC-42E4-6E6C16CD3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8075F9B-3929-2775-58D5-8A95029E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Logistic Regression Model Image">
            <a:extLst>
              <a:ext uri="{FF2B5EF4-FFF2-40B4-BE49-F238E27FC236}">
                <a16:creationId xmlns:a16="http://schemas.microsoft.com/office/drawing/2014/main" id="{1DA4822E-0CA8-B7A7-6574-37477168C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746" y="1389529"/>
            <a:ext cx="9755330" cy="4447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435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516" y="1732875"/>
            <a:ext cx="10302483" cy="37176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It takes input as independent variables and </a:t>
            </a:r>
            <a:r>
              <a:rPr lang="en-US" sz="2400" b="1" dirty="0">
                <a:solidFill>
                  <a:schemeClr val="accent4"/>
                </a:solidFill>
              </a:rPr>
              <a:t>produces a probability value between 0 and 1.</a:t>
            </a:r>
          </a:p>
          <a:p>
            <a:endParaRPr lang="en-US" sz="2400" dirty="0"/>
          </a:p>
          <a:p>
            <a:r>
              <a:rPr lang="en-US" sz="2400" dirty="0"/>
              <a:t>It uses a function : </a:t>
            </a:r>
            <a:r>
              <a:rPr lang="en-US" sz="2400" b="1" dirty="0">
                <a:solidFill>
                  <a:srgbClr val="0070C0"/>
                </a:solidFill>
              </a:rPr>
              <a:t>Sigmoid function </a:t>
            </a:r>
            <a:r>
              <a:rPr lang="en-US" sz="2400" dirty="0"/>
              <a:t>to identify classes.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EA5C2-C558-68B0-CC0F-D18D8A96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52" y="1045451"/>
            <a:ext cx="8828359" cy="128089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Working of Logistic Regression Model</a:t>
            </a:r>
          </a:p>
        </p:txBody>
      </p:sp>
    </p:spTree>
    <p:extLst>
      <p:ext uri="{BB962C8B-B14F-4D97-AF65-F5344CB8AC3E}">
        <p14:creationId xmlns:p14="http://schemas.microsoft.com/office/powerpoint/2010/main" val="62664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516" y="1855639"/>
            <a:ext cx="10302483" cy="3675586"/>
          </a:xfrm>
        </p:spPr>
        <p:txBody>
          <a:bodyPr>
            <a:normAutofit/>
          </a:bodyPr>
          <a:lstStyle/>
          <a:p>
            <a:r>
              <a:rPr lang="en-US" sz="2400" dirty="0"/>
              <a:t>Logistic regression uses a </a:t>
            </a:r>
            <a:r>
              <a:rPr lang="en-US" sz="2400" b="1" dirty="0">
                <a:solidFill>
                  <a:schemeClr val="accent4"/>
                </a:solidFill>
              </a:rPr>
              <a:t>logistic function</a:t>
            </a:r>
            <a:r>
              <a:rPr lang="en-US" sz="2400" dirty="0"/>
              <a:t> called a sigmoid function to map predictions and their probabilities. </a:t>
            </a:r>
          </a:p>
          <a:p>
            <a:endParaRPr lang="en-US" sz="2400" dirty="0"/>
          </a:p>
          <a:p>
            <a:r>
              <a:rPr lang="en-US" sz="2400" b="1" i="1" dirty="0"/>
              <a:t>The sigmoid function refers to an S-shaped curve that converts any real value to a range between 0 and 1.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EA5C2-C558-68B0-CC0F-D18D8A96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52" y="1045451"/>
            <a:ext cx="8828359" cy="128089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Sigmoid Function</a:t>
            </a:r>
          </a:p>
        </p:txBody>
      </p:sp>
    </p:spTree>
    <p:extLst>
      <p:ext uri="{BB962C8B-B14F-4D97-AF65-F5344CB8AC3E}">
        <p14:creationId xmlns:p14="http://schemas.microsoft.com/office/powerpoint/2010/main" val="406947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5045" y="1389529"/>
            <a:ext cx="10302483" cy="467066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The sigmoid function is referred to as an activation function for logistic regression and is defined as: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where,</a:t>
            </a:r>
          </a:p>
          <a:p>
            <a:pPr marL="0" indent="0" algn="ctr">
              <a:buNone/>
            </a:pPr>
            <a:r>
              <a:rPr lang="en-US" sz="2400" dirty="0"/>
              <a:t>f(x)	=	sigmoid function</a:t>
            </a:r>
          </a:p>
          <a:p>
            <a:pPr marL="0" indent="0" algn="ctr">
              <a:buNone/>
            </a:pPr>
            <a:r>
              <a:rPr lang="en-US" sz="2400" dirty="0"/>
              <a:t>e = base of natural logarithms</a:t>
            </a:r>
          </a:p>
          <a:p>
            <a:pPr marL="0" indent="0" algn="ctr">
              <a:buNone/>
            </a:pPr>
            <a:r>
              <a:rPr lang="en-US" sz="2400" dirty="0"/>
              <a:t>X = input to the function.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8142" y="6363709"/>
            <a:ext cx="2777470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pic>
        <p:nvPicPr>
          <p:cNvPr id="1026" name="Picture 2" descr="sigmoid function">
            <a:extLst>
              <a:ext uri="{FF2B5EF4-FFF2-40B4-BE49-F238E27FC236}">
                <a16:creationId xmlns:a16="http://schemas.microsoft.com/office/drawing/2014/main" id="{8DC7E0F5-C88F-A755-43A3-EBAC49466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389" y="2407023"/>
            <a:ext cx="4011553" cy="130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46345D8-58D9-195B-B789-4D7531BAE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872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341" y="1392609"/>
            <a:ext cx="10302483" cy="4670667"/>
          </a:xfrm>
        </p:spPr>
        <p:txBody>
          <a:bodyPr>
            <a:normAutofit/>
          </a:bodyPr>
          <a:lstStyle/>
          <a:p>
            <a:r>
              <a:rPr lang="en-US" sz="2400" dirty="0"/>
              <a:t>So a value fed to the function will always return a value between 0 and 1, no matter how big or small the deal is provided.</a:t>
            </a:r>
          </a:p>
          <a:p>
            <a:r>
              <a:rPr lang="en-US" sz="2400" dirty="0"/>
              <a:t>Graphically, the sigmoid function looks like this,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8142" y="6363709"/>
            <a:ext cx="2777470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B32695-AA9F-CD77-263E-48A9BAF2F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137" y="2984517"/>
            <a:ext cx="4896687" cy="322897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A41482E-440D-8BB5-9A93-6C53779DB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341" y="504796"/>
            <a:ext cx="8925318" cy="13290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2E093C-998E-2939-43A4-4E453252430B}"/>
              </a:ext>
            </a:extLst>
          </p:cNvPr>
          <p:cNvSpPr txBox="1"/>
          <p:nvPr/>
        </p:nvSpPr>
        <p:spPr>
          <a:xfrm>
            <a:off x="3048000" y="32506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sz="1800" b="1" i="1" dirty="0"/>
            </a:br>
            <a:r>
              <a:rPr lang="en-US" sz="1800" b="1" i="1" dirty="0"/>
              <a:t>Threshold value= 0.5</a:t>
            </a:r>
            <a:endParaRPr lang="en-US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B07A45-D5B4-0F26-C796-4142F2EC4F86}"/>
              </a:ext>
            </a:extLst>
          </p:cNvPr>
          <p:cNvSpPr txBox="1"/>
          <p:nvPr/>
        </p:nvSpPr>
        <p:spPr>
          <a:xfrm>
            <a:off x="1181100" y="4713695"/>
            <a:ext cx="5858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For example, we have two classes Class 0 and Class 1 if the value of the logistic function for an input is greater than 0.5 (threshold value) then it belongs to Class 1 otherwise it belongs to Class 0. </a:t>
            </a:r>
          </a:p>
        </p:txBody>
      </p:sp>
    </p:spTree>
    <p:extLst>
      <p:ext uri="{BB962C8B-B14F-4D97-AF65-F5344CB8AC3E}">
        <p14:creationId xmlns:p14="http://schemas.microsoft.com/office/powerpoint/2010/main" val="136492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75EBCA-29F8-0023-80E6-17727CCC1F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58"/>
          <a:stretch/>
        </p:blipFill>
        <p:spPr>
          <a:xfrm>
            <a:off x="531812" y="1526233"/>
            <a:ext cx="6858000" cy="45439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42738-5421-16AD-8C6F-702B0513FE8F}"/>
                  </a:ext>
                </a:extLst>
              </p:cNvPr>
              <p:cNvSpPr txBox="1"/>
              <p:nvPr/>
            </p:nvSpPr>
            <p:spPr>
              <a:xfrm>
                <a:off x="7773521" y="3155485"/>
                <a:ext cx="4229100" cy="1285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/>
                  <a:t>Decision Rule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4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if</m:t>
                                </m:r>
                                <m:r>
                                  <m:rPr>
                                    <m:nor/>
                                  </m:rP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sz="2400" b="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AC42738-5421-16AD-8C6F-702B0513F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521" y="3155485"/>
                <a:ext cx="4229100" cy="1285480"/>
              </a:xfrm>
              <a:prstGeom prst="rect">
                <a:avLst/>
              </a:prstGeom>
              <a:blipFill>
                <a:blip r:embed="rId3"/>
                <a:stretch>
                  <a:fillRect l="-2161" t="-3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322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08142" y="6363709"/>
            <a:ext cx="2777470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BEA5C2-C558-68B0-CC0F-D18D8A96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9152" y="1045451"/>
            <a:ext cx="8828359" cy="1280890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Equation of 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F8D6DF-72C2-0AEF-9AB4-8E7B8A81953A}"/>
              </a:ext>
            </a:extLst>
          </p:cNvPr>
          <p:cNvSpPr txBox="1"/>
          <p:nvPr/>
        </p:nvSpPr>
        <p:spPr>
          <a:xfrm>
            <a:off x="8287870" y="968241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Linear regression: y = b0 + b1x1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C62E44B-8673-BD9D-10E6-08720F6745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39152" y="2136020"/>
                <a:ext cx="9360648" cy="412508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8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800" b="0" i="1"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b="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sz="28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ar-AE" sz="2800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ar-AE" sz="28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800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b="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800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8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buNone/>
                </a:pPr>
                <a:endParaRPr lang="ar-AE" dirty="0"/>
              </a:p>
              <a:p>
                <a:pPr>
                  <a:buNone/>
                </a:pPr>
                <a:r>
                  <a:rPr lang="en-US" sz="2400" b="1" dirty="0"/>
                  <a:t>Expanded form (for multiple features)</a:t>
                </a:r>
              </a:p>
              <a:p>
                <a:pPr>
                  <a:buNone/>
                </a:pPr>
                <a:endParaRPr lang="en-US" sz="24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sz="2800" i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ar-AE" sz="28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8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ar-AE" sz="28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ar-AE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8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8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8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ar-AE" sz="28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2800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ar-AE" sz="2800" i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ar-AE" sz="2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ar-AE" sz="2800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ar-AE" sz="2800" i="0">
                                      <a:latin typeface="Cambria Math" panose="02040503050406030204" pitchFamily="18" charset="0"/>
                                    </a:rPr>
                                    <m:t>+⋯+</m:t>
                                  </m:r>
                                  <m:r>
                                    <a:rPr lang="ar-AE" sz="28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d>
                            </m:sup>
                          </m:sSup>
                        </m:den>
                      </m:f>
                    </m:oMath>
                  </m:oMathPara>
                </a14:m>
                <a:endParaRPr lang="ar-AE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0C62E44B-8673-BD9D-10E6-08720F6745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39152" y="2136020"/>
                <a:ext cx="9360648" cy="4125080"/>
              </a:xfrm>
              <a:blipFill>
                <a:blip r:embed="rId2"/>
                <a:stretch>
                  <a:fillRect l="-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2816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8D553-3893-0BB7-9999-978F97A33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DAA58-DC0C-AE36-A737-EE65A1815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= </a:t>
                </a:r>
                <a:r>
                  <a:rPr lang="en-US" sz="2400" b="1" dirty="0"/>
                  <a:t>actual (true) label</a:t>
                </a: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Either </a:t>
                </a:r>
                <a:r>
                  <a:rPr lang="en-US" sz="2000" b="1" dirty="0"/>
                  <a:t>0 or 1</a:t>
                </a:r>
                <a:endParaRPr lang="en-US" sz="2000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= </a:t>
                </a:r>
                <a:r>
                  <a:rPr lang="en-US" sz="2400" b="1" dirty="0"/>
                  <a:t>predicted probability</a:t>
                </a:r>
                <a:endParaRPr lang="en-US" sz="24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Output of sigmoid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Value between </a:t>
                </a:r>
                <a:r>
                  <a:rPr lang="en-US" sz="2000" b="1" dirty="0"/>
                  <a:t>0 and 1</a:t>
                </a:r>
                <a:endParaRPr lang="en-US" sz="200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Interpreted as: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2000" i="0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ar-AE" sz="2000" dirty="0"/>
              </a:p>
              <a:p>
                <a:pPr marL="0" indent="0">
                  <a:buNone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0DAA58-DC0C-AE36-A737-EE65A1815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  <a:blipFill>
                <a:blip r:embed="rId2"/>
                <a:stretch>
                  <a:fillRect l="-828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80D45-1B86-D549-4255-D41331A2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364A1-11CE-8347-F95F-95CAFEE8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25700D-8CFA-8C3F-0C58-B8AFD65ECE04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6153287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D8933-3987-23DC-58F7-B2DD54397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2257" y="1858128"/>
            <a:ext cx="10302483" cy="4688143"/>
          </a:xfrm>
        </p:spPr>
        <p:txBody>
          <a:bodyPr>
            <a:normAutofit/>
          </a:bodyPr>
          <a:lstStyle/>
          <a:p>
            <a:r>
              <a:rPr lang="en-US" sz="2400" dirty="0"/>
              <a:t>This equation is similar to linear regression, where the input values are combined linearly to predict an output value using weights or coefficient values. </a:t>
            </a:r>
          </a:p>
          <a:p>
            <a:endParaRPr lang="en-US" sz="2400" dirty="0"/>
          </a:p>
          <a:p>
            <a:r>
              <a:rPr lang="en-US" sz="2400" dirty="0"/>
              <a:t>However, unlike linear regression, the output value modeled here is a binary value (0 or 1) rather than a numeric value.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F4B11E-33BE-5B84-F9C3-96F354B8028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4230968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820DE-8B3C-8AC2-DDB5-D965C260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2E728C-0530-B46C-C03D-56407F77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E88FA-4922-DF1C-6978-EDDD2CFF9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36912" y="6492875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B576EF-04D9-34D0-0B37-FE2DD8769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38006F-A475-4F89-2D8F-3EF0EAE0C3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907"/>
          <a:stretch/>
        </p:blipFill>
        <p:spPr>
          <a:xfrm>
            <a:off x="1880827" y="860612"/>
            <a:ext cx="10176702" cy="492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9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8860F-3525-5271-C8F6-7C5E583D1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413B2-CCE2-8ED1-F3BE-F1AD01F3A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15" y="980251"/>
            <a:ext cx="3267985" cy="111967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Numerical 1</a:t>
            </a:r>
            <a:endParaRPr lang="en-IN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3255E9-8A1D-3770-5BB4-FE4AA86598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Given: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Input: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Predict the value of 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3255E9-8A1D-3770-5BB4-FE4AA86598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9BB30-CEAE-967E-082E-B5375540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367D37-AD38-A2DA-CDA3-0FFD43113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2445650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198F4-D3AC-1E87-9984-C3BAE124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5FA3D2-7558-3633-B0F6-C9A4A85243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🔷 Step 1: Compute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US" sz="2400" b="1" dirty="0"/>
                  <a:t>🔷 Step 2: Apply Sigmoid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5FA3D2-7558-3633-B0F6-C9A4A85243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  <a:blipFill>
                <a:blip r:embed="rId2"/>
                <a:stretch>
                  <a:fillRect l="-947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498D1-8CF5-AF20-4D22-E3D36654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D2D4F-441F-6B8C-82BE-EF510288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A15BC6C-C4B1-ADE6-0279-5569C0921E8F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70473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0B69-B2CA-BD2A-56C8-E7B4386D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C0AC57-B102-FD71-5111-716046DCFA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🔷 Step 3: Final Prediction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Decision: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  <a:p>
                <a:pPr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b="1" dirty="0"/>
                  <a:t>✅ Final Answer: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Probability = </a:t>
                </a:r>
                <a:r>
                  <a:rPr lang="en-US" sz="2400" b="1" dirty="0"/>
                  <a:t>0.5</a:t>
                </a: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Predicted class = </a:t>
                </a:r>
                <a:r>
                  <a:rPr lang="en-US" sz="2400" b="1" dirty="0"/>
                  <a:t>1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C0AC57-B102-FD71-5111-716046DCFA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  <a:blipFill>
                <a:blip r:embed="rId2"/>
                <a:stretch>
                  <a:fillRect l="-947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CAC028-66F4-D703-710C-E46A1CE21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A9EE9-CEBF-4CE4-ACCE-B26EDFE4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255506-CFED-BB10-2EB7-8745C8D23957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282011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DB42-ACEA-1C15-861F-C2A3A2151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8AAA7-8298-CCD2-72B2-D12D36503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15" y="980251"/>
            <a:ext cx="3267985" cy="111967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Numerical 2</a:t>
            </a:r>
            <a:endParaRPr lang="en-IN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1C9CB8-0E6F-5766-BB5A-B99F45BEB0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Given: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Input: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Predict the value of 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1C9CB8-0E6F-5766-BB5A-B99F45BEB0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3D38D4-5646-6047-42AB-8504E95E6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3DE35-1169-6052-A3FB-AD4CC12D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BB12F-2E57-5787-9B19-FA0B8CEEDD06}"/>
              </a:ext>
            </a:extLst>
          </p:cNvPr>
          <p:cNvSpPr txBox="1"/>
          <p:nvPr/>
        </p:nvSpPr>
        <p:spPr>
          <a:xfrm>
            <a:off x="8940800" y="5158084"/>
            <a:ext cx="2616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✅ Final Answer: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Probability ≈ </a:t>
            </a:r>
            <a:r>
              <a:rPr lang="en-US" b="1" dirty="0"/>
              <a:t>0.73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= </a:t>
            </a:r>
            <a:r>
              <a:rPr lang="en-US" b="1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2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52349-E41D-B132-B209-4CAD80B28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36A0C-5A40-322F-0EDD-FCF7F2DEB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15" y="980251"/>
            <a:ext cx="6023885" cy="1089849"/>
          </a:xfrm>
        </p:spPr>
        <p:txBody>
          <a:bodyPr>
            <a:normAutofit/>
          </a:bodyPr>
          <a:lstStyle/>
          <a:p>
            <a:r>
              <a:rPr lang="en-US" sz="2800" b="1" dirty="0"/>
              <a:t>Numerical 3: Multiple Features</a:t>
            </a:r>
            <a:endParaRPr lang="en-IN" sz="4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7FE7BF-E222-0B3A-9373-39C454CE16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Given: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7FE7BF-E222-0B3A-9373-39C454CE16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68A543-35D4-3151-A149-2EBF22C21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909E3-3171-071B-EB5F-E9AD7D2B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815925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3E22F-2951-8A3E-23A8-7C1F0F1F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ABABF0-EF78-8460-57BA-F12E9853F3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887506"/>
                <a:ext cx="10302483" cy="5658765"/>
              </a:xfrm>
            </p:spPr>
            <p:txBody>
              <a:bodyPr>
                <a:normAutofit fontScale="85000" lnSpcReduction="10000"/>
              </a:bodyPr>
              <a:lstStyle/>
              <a:p>
                <a:pPr>
                  <a:buNone/>
                </a:pPr>
                <a:r>
                  <a:rPr lang="en-US" sz="2400" b="1" dirty="0"/>
                  <a:t>🔷 Step 1: Compute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US" sz="2400" b="1" dirty="0"/>
                  <a:t>🔷 Step 2: Sigmoid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US" sz="2400" b="1" dirty="0"/>
                  <a:t>🔷 Step 3: Prediction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b="1" dirty="0"/>
                  <a:t>✅ Final Answer: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Probability = </a:t>
                </a:r>
                <a:r>
                  <a:rPr lang="en-US" sz="2400" b="1" dirty="0"/>
                  <a:t>0.5</a:t>
                </a:r>
                <a:endParaRPr lang="en-US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Class = </a:t>
                </a:r>
                <a:r>
                  <a:rPr lang="en-US" sz="2400" b="1" dirty="0"/>
                  <a:t>1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ABABF0-EF78-8460-57BA-F12E9853F3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887506"/>
                <a:ext cx="10302483" cy="5658765"/>
              </a:xfrm>
              <a:blipFill>
                <a:blip r:embed="rId2"/>
                <a:stretch>
                  <a:fillRect l="-651" t="-1185" b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661FB9-79EA-E852-75E0-BDEA9348D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9AD3F-D805-208F-D6FC-E43B89BC0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B96371-A722-ED5F-78B0-3BDF7D2BF58B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8237265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11FE-1028-9D01-F52B-D94D8289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38F8F-CDB2-3B5A-422C-D3988BD5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2857" y="787782"/>
            <a:ext cx="4906285" cy="988249"/>
          </a:xfrm>
        </p:spPr>
        <p:txBody>
          <a:bodyPr>
            <a:normAutofit/>
          </a:bodyPr>
          <a:lstStyle/>
          <a:p>
            <a:r>
              <a:rPr lang="en-US" sz="4400" b="1" dirty="0"/>
              <a:t>Loss Function</a:t>
            </a:r>
            <a:endParaRPr lang="en-IN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C912F-6840-C77D-6C40-E12CAA8ED8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dirty="0"/>
                  <a:t>Logistic regression predicts a </a:t>
                </a:r>
                <a:r>
                  <a:rPr lang="en-US" sz="2400" b="1" dirty="0"/>
                  <a:t>probability</a:t>
                </a:r>
                <a:r>
                  <a:rPr lang="en-US" sz="2400" dirty="0"/>
                  <a:t>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We need a way to measure:</a:t>
                </a:r>
                <a:br>
                  <a:rPr lang="en-US" sz="2400" dirty="0"/>
                </a:br>
                <a:r>
                  <a:rPr lang="en-US" sz="2400" dirty="0"/>
                  <a:t>👉 </a:t>
                </a:r>
                <a:r>
                  <a:rPr lang="en-US" sz="2400" i="1" dirty="0"/>
                  <a:t>How wrong is this probability compared to actual label?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78C912F-6840-C77D-6C40-E12CAA8ED8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AA449-EC57-D9AA-92AD-098CFDFB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9A0B8-3313-346D-5D87-C60ABDA9D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1673913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6D4D-B2CB-1AF7-1C60-1ED9213BC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9E9146-F040-C9B1-2423-FFCAE64F34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Loss Function (for one data point)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This is called:</a:t>
                </a:r>
                <a:br>
                  <a:rPr lang="en-US" sz="2400" dirty="0"/>
                </a:br>
                <a:r>
                  <a:rPr lang="en-US" sz="2400" dirty="0"/>
                  <a:t>👉 </a:t>
                </a:r>
                <a:r>
                  <a:rPr lang="en-US" sz="2400" b="1" dirty="0"/>
                  <a:t>Binary Cross-Entropy Loss</a:t>
                </a: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39E9146-F040-C9B1-2423-FFCAE64F34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  <a:blipFill>
                <a:blip r:embed="rId2"/>
                <a:stretch>
                  <a:fillRect l="-947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D9D2C-4610-9673-BF1E-C9B37C58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B131D-6744-9EA0-437D-6C93EE738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998861F-96CE-D70D-31D4-6703346DDAA9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041839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D6594-2F2F-5CAA-0D9C-A256B4E9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D5668D-3C2E-BB9E-290A-11D0C5DC1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1152908"/>
                <a:ext cx="10302483" cy="5393364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Interpretation:</a:t>
                </a:r>
              </a:p>
              <a:p>
                <a:pPr>
                  <a:buNone/>
                </a:pPr>
                <a:r>
                  <a:rPr lang="en-US" sz="2400" b="1" dirty="0"/>
                  <a:t>✅ Case 1: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→ loss → 0 ✅ (good prediction)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→ loss → ∞ ❌ (very bad)</a:t>
                </a:r>
              </a:p>
              <a:p>
                <a:pPr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b="1" dirty="0"/>
                  <a:t>✅ Case 2: 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b="1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→ loss → 0 ✅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→ loss → ∞ ❌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D5668D-3C2E-BB9E-290A-11D0C5DC1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1152908"/>
                <a:ext cx="10302483" cy="5393364"/>
              </a:xfrm>
              <a:blipFill>
                <a:blip r:embed="rId2"/>
                <a:stretch>
                  <a:fillRect l="-947" t="-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E8AB1-A30F-38E9-31F6-AF14ABD92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D7874-D256-0411-17C6-BC6AF642B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AED8DC5-070C-8E5F-E145-61872DBBB575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221007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E2251-194C-01F1-5915-E9B96D59C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490E93-7187-49C5-CB61-E201E17A5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For whole dataset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⁡</m:t>
                              </m:r>
                              <m:d>
                                <m:dPr>
                                  <m:ctrlPr>
                                    <a:rPr lang="ar-AE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ar-AE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ar-AE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490E93-7187-49C5-CB61-E201E17A5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12257" y="1858128"/>
                <a:ext cx="10302483" cy="4688143"/>
              </a:xfrm>
              <a:blipFill>
                <a:blip r:embed="rId2"/>
                <a:stretch>
                  <a:fillRect l="-947" t="-1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FDD8C0-62A5-3650-DBCB-D34DE4799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30686-6F89-86E3-6FB2-5FA54FAD1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B6565E-A520-F412-73B3-72096EC5B859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3768627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5DA9-61F7-BF68-CBD2-7091C763F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51F11-B043-E5E6-0E61-B6C78E547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915" y="980251"/>
            <a:ext cx="3267985" cy="111967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Numerical 1</a:t>
            </a:r>
            <a:endParaRPr lang="en-IN" sz="4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449808-B644-0188-FAB4-3CBA2334BA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Given:</a:t>
                </a:r>
              </a:p>
              <a:p>
                <a:pPr>
                  <a:buNone/>
                </a:pPr>
                <a:r>
                  <a:rPr lang="en-US" sz="2400" dirty="0"/>
                  <a:t>A logistic regression model predicts: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r>
                  <a:rPr lang="en-US" sz="2400" dirty="0"/>
                  <a:t>Actual label: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>
                  <a:buNone/>
                </a:pPr>
                <a:r>
                  <a:rPr lang="en-US" sz="2400" b="1" dirty="0"/>
                  <a:t>❓ Find the loss.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449808-B644-0188-FAB4-3CBA2334BA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B35B1-6064-CED9-81E1-0A5000B42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C34589-0181-73AF-14D3-1EA229D7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12495863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CE6D8-9519-EA2F-E6E8-68CF45A6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6ABB9-4C63-A9CC-6EC2-3D8DC920DF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83128" y="1413628"/>
                <a:ext cx="10302483" cy="4688143"/>
              </a:xfrm>
            </p:spPr>
            <p:txBody>
              <a:bodyPr>
                <a:normAutofit fontScale="92500"/>
              </a:bodyPr>
              <a:lstStyle/>
              <a:p>
                <a:pPr>
                  <a:buNone/>
                </a:pPr>
                <a:r>
                  <a:rPr lang="en-US" sz="2400" b="1" dirty="0"/>
                  <a:t>✅ Solution:</a:t>
                </a:r>
              </a:p>
              <a:p>
                <a:pPr>
                  <a:buNone/>
                </a:pPr>
                <a:r>
                  <a:rPr lang="en-US" sz="2400" dirty="0"/>
                  <a:t>Use formula: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Substitute: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400" i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⁡</m:t>
                          </m:r>
                          <m:d>
                            <m:d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d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≈−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357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357</m:t>
                      </m:r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br>
                  <a:rPr lang="ar-AE" sz="2400" dirty="0"/>
                </a:br>
                <a:endParaRPr lang="ar-AE" sz="2400" dirty="0"/>
              </a:p>
              <a:p>
                <a:pPr>
                  <a:buNone/>
                </a:pPr>
                <a:r>
                  <a:rPr lang="en-US" sz="2400" b="1" dirty="0"/>
                  <a:t>✅ Final Answer: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357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E6ABB9-4C63-A9CC-6EC2-3D8DC920DF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83128" y="1413628"/>
                <a:ext cx="10302483" cy="4688143"/>
              </a:xfrm>
              <a:blipFill>
                <a:blip r:embed="rId2"/>
                <a:stretch>
                  <a:fillRect l="-769" t="-9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A8A05-C89A-0D84-CC2A-55BBFFB68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297C9-A5A7-3C5D-2452-8638D08F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77082" y="6363709"/>
            <a:ext cx="250852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13EDC5-D3A2-3790-5D03-A1F223E13B2E}"/>
              </a:ext>
            </a:extLst>
          </p:cNvPr>
          <p:cNvSpPr txBox="1">
            <a:spLocks/>
          </p:cNvSpPr>
          <p:nvPr/>
        </p:nvSpPr>
        <p:spPr>
          <a:xfrm>
            <a:off x="9888071" y="122087"/>
            <a:ext cx="2303928" cy="765419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/>
              <a:t>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39993230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22940-5FC9-E3CF-59CF-2E9500ED3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AA18-8DF6-56B9-B4F1-AE273D59E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115" y="980251"/>
            <a:ext cx="3267985" cy="111967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Numerical 2</a:t>
            </a:r>
            <a:endParaRPr lang="en-IN" sz="4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8BDB0B-E2D7-F5A7-FA67-E92F408AD6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Given a logistic regression model: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24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b="1" dirty="0"/>
                  <a:t>Tasks:</a:t>
                </a:r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Calculate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Compute the probability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4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Classify the output if threshold = 0.5.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8BDB0B-E2D7-F5A7-FA67-E92F408AD6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1C8C61-598A-65FF-48DA-9565379C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93313-4330-E7C5-2834-D4DA24B91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28709289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4A09B-F708-4F41-31E9-0AACE9006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89272-6442-5E76-A443-571122A1F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6115" y="980251"/>
            <a:ext cx="3267985" cy="1119679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Numerical 3</a:t>
            </a:r>
            <a:endParaRPr lang="en-IN" sz="4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21015-2C0C-2AB7-8C5E-AA3D59E49D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en-US" sz="2400" b="1" dirty="0"/>
                  <a:t>Two-Feature Logistic Model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400" i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ar-AE" sz="2400" dirty="0"/>
              </a:p>
              <a:p>
                <a:pPr>
                  <a:buNone/>
                </a:pPr>
                <a:r>
                  <a:rPr lang="en-US" sz="240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 i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ar-AE" sz="2400" dirty="0"/>
                  <a:t>:</a:t>
                </a:r>
              </a:p>
              <a:p>
                <a:pPr>
                  <a:buNone/>
                </a:pPr>
                <a:r>
                  <a:rPr lang="en-US" sz="2400" b="1" dirty="0"/>
                  <a:t>Tasks:</a:t>
                </a:r>
                <a:endParaRPr lang="en-US" sz="2400" dirty="0"/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Compute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Find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24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sz="2400" dirty="0"/>
                  <a:t>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400" dirty="0"/>
                  <a:t>Determine the class label (threshold = 0.5).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21015-2C0C-2AB7-8C5E-AA3D59E49D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3100" y="2476499"/>
                <a:ext cx="10248900" cy="4069773"/>
              </a:xfrm>
              <a:blipFill>
                <a:blip r:embed="rId2"/>
                <a:stretch>
                  <a:fillRect l="-952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DD7BB-B9F4-80CE-6FD8-3019850A9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1E4F-1CFF-5643-939E-217C01CDF565}" type="slidenum">
              <a: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6F982-19D5-71CD-CD0F-D014B0B3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5612" y="6363709"/>
            <a:ext cx="7619999" cy="365125"/>
          </a:xfrm>
        </p:spPr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39053294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7924ED-957E-C013-E0A1-F39551658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113" y="2520145"/>
            <a:ext cx="6107322" cy="3652055"/>
          </a:xfrm>
        </p:spPr>
        <p:txBody>
          <a:bodyPr>
            <a:normAutofit/>
          </a:bodyPr>
          <a:lstStyle/>
          <a:p>
            <a:r>
              <a:rPr lang="en-IN" sz="8000" b="1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 ITC" panose="03070402050302030203" pitchFamily="66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912753-0FF5-D222-2A9F-A79853BEC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22E10-625C-BB47-735F-B1ECCDE9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by: Dr. Ashima Tyagi</a:t>
            </a:r>
          </a:p>
        </p:txBody>
      </p:sp>
    </p:spTree>
    <p:extLst>
      <p:ext uri="{BB962C8B-B14F-4D97-AF65-F5344CB8AC3E}">
        <p14:creationId xmlns:p14="http://schemas.microsoft.com/office/powerpoint/2010/main" val="75037604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2711</TotalTime>
  <Words>1384</Words>
  <Application>Microsoft Office PowerPoint</Application>
  <PresentationFormat>Widescreen</PresentationFormat>
  <Paragraphs>250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Bradley Hand ITC</vt:lpstr>
      <vt:lpstr>Calibri</vt:lpstr>
      <vt:lpstr>Cambria Math</vt:lpstr>
      <vt:lpstr>Century Gothic</vt:lpstr>
      <vt:lpstr>Wingdings 3</vt:lpstr>
      <vt:lpstr>Wisp</vt:lpstr>
      <vt:lpstr>Logistic  Regression</vt:lpstr>
      <vt:lpstr>Outline</vt:lpstr>
      <vt:lpstr>CLASSIFICATION</vt:lpstr>
      <vt:lpstr>PowerPoint Presentation</vt:lpstr>
      <vt:lpstr>PowerPoint Presentation</vt:lpstr>
      <vt:lpstr>Logistic Regression</vt:lpstr>
      <vt:lpstr>Binary Logistic Regression Model</vt:lpstr>
      <vt:lpstr>PowerPoint Presentation</vt:lpstr>
      <vt:lpstr>Working of Logistic Regression Model</vt:lpstr>
      <vt:lpstr>Sigmoid Function</vt:lpstr>
      <vt:lpstr>PowerPoint Presentation</vt:lpstr>
      <vt:lpstr>PowerPoint Presentation</vt:lpstr>
      <vt:lpstr>PowerPoint Presentation</vt:lpstr>
      <vt:lpstr>Equation of logistic regression</vt:lpstr>
      <vt:lpstr>PowerPoint Presentation</vt:lpstr>
      <vt:lpstr>PowerPoint Presentation</vt:lpstr>
      <vt:lpstr>PowerPoint Presentation</vt:lpstr>
      <vt:lpstr>Numerical 1</vt:lpstr>
      <vt:lpstr>PowerPoint Presentation</vt:lpstr>
      <vt:lpstr>PowerPoint Presentation</vt:lpstr>
      <vt:lpstr>Numerical 2</vt:lpstr>
      <vt:lpstr>Numerical 3: Multiple Features</vt:lpstr>
      <vt:lpstr>PowerPoint Presentation</vt:lpstr>
      <vt:lpstr>Loss Function</vt:lpstr>
      <vt:lpstr>PowerPoint Presentation</vt:lpstr>
      <vt:lpstr>PowerPoint Presentation</vt:lpstr>
      <vt:lpstr>PowerPoint Presentation</vt:lpstr>
      <vt:lpstr>Numerical 1</vt:lpstr>
      <vt:lpstr>PowerPoint Presentation</vt:lpstr>
      <vt:lpstr>Numerical 2</vt:lpstr>
      <vt:lpstr>Numerical 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Ashima Tyagi</dc:creator>
  <cp:lastModifiedBy>Ashima Tyagi</cp:lastModifiedBy>
  <cp:revision>115</cp:revision>
  <dcterms:created xsi:type="dcterms:W3CDTF">2024-02-27T04:09:37Z</dcterms:created>
  <dcterms:modified xsi:type="dcterms:W3CDTF">2026-03-02T04:52:27Z</dcterms:modified>
</cp:coreProperties>
</file>